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4"/>
  </p:notesMasterIdLst>
  <p:sldIdLst>
    <p:sldId id="319" r:id="rId2"/>
    <p:sldId id="443" r:id="rId4"/>
    <p:sldId id="420" r:id="rId6"/>
    <p:sldId id="448" r:id="rId20"/>
    <p:sldId id="447" r:id="rId19"/>
    <p:sldId id="421" r:id="rId9"/>
    <p:sldId id="423" r:id="rId10"/>
    <p:sldId id="446" r:id="rId11"/>
    <p:sldId id="427" r:id="rId12"/>
    <p:sldId id="42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291" autoAdjust="0"/>
  </p:normalViewPr>
  <p:slideViewPr>
    <p:cSldViewPr>
      <p:cViewPr varScale="1">
        <p:scale>
          <a:sx n="63" d="100"/>
          <a:sy n="63" d="100"/>
        </p:scale>
        <p:origin x="126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4A4B-0550-7E87-0EFF-98386E4F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C638-2836-26CF-BC32-269AAEC9A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C3218-810B-74A4-683A-F5296CDFC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E05D5-8C36-00E0-1949-6E5D838F4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259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325880"/>
            <a:ext cx="8686800" cy="265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TECHNICAL PRESENTATION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Cloud Storage Technologies and Architecture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no.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CSA15  – Cloud Computing and Big Data Analytics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Guide Details"/>
          <p:cNvSpPr txBox="1"/>
          <p:nvPr/>
        </p:nvSpPr>
        <p:spPr>
          <a:xfrm>
            <a:off x="822960" y="434340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Guided By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Dr.A.M.Arul Raj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Professor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Institute of Xxxxxxx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SIMATS Engineering</a:t>
            </a:r>
          </a:p>
        </p:txBody>
      </p:sp>
      <p:sp>
        <p:nvSpPr>
          <p:cNvPr id="102" name="Student Details"/>
          <p:cNvSpPr txBox="1"/>
          <p:nvPr/>
        </p:nvSpPr>
        <p:spPr>
          <a:xfrm>
            <a:off x="4846320" y="434340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Students Name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X.Xxxxx Xxxxx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Register Number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Institute of Xxxxxxx</a:t>
            </a: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SIMATS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Aim Card"/>
          <p:cNvSpPr/>
          <p:nvPr/>
        </p:nvSpPr>
        <p:spPr>
          <a:xfrm>
            <a:off x="548640" y="17830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8F0F9"/>
          </a:solidFill>
          <a:ln w="19050">
            <a:solidFill>
              <a:srgbClr val="1B5E9E"/>
            </a:solidFill>
          </a:ln>
        </p:spPr>
        <p:txBody>
          <a:bodyPr wrap="square" lIns="228600" tIns="45720" rIns="2286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C00000"/>
                </a:solidFill>
                <a:latin typeface="Times New Roman"/>
                <a:cs typeface="Times New Roman"/>
              </a:rPr>
              <a:t>AIM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Explain cloud storage technologies, architecture and real-world services</a:t>
            </a:r>
          </a:p>
        </p:txBody>
      </p:sp>
      <p:sp>
        <p:nvSpPr>
          <p:cNvPr id="102" name="Objectives Heading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00000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103" name="Objective Card 1"/>
          <p:cNvSpPr/>
          <p:nvPr/>
        </p:nvSpPr>
        <p:spPr>
          <a:xfrm>
            <a:off x="548640" y="329184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Define cloud storage concept and types</a:t>
            </a:r>
          </a:p>
        </p:txBody>
      </p:sp>
      <p:sp>
        <p:nvSpPr>
          <p:cNvPr id="104" name="Objective Number 1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5" name="Objective Card 2"/>
          <p:cNvSpPr/>
          <p:nvPr/>
        </p:nvSpPr>
        <p:spPr>
          <a:xfrm>
            <a:off x="4663440" y="329184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Describe storage architecture layers</a:t>
            </a:r>
          </a:p>
        </p:txBody>
      </p:sp>
      <p:sp>
        <p:nvSpPr>
          <p:cNvPr id="106" name="Objective Number 2"/>
          <p:cNvSpPr/>
          <p:nvPr/>
        </p:nvSpPr>
        <p:spPr>
          <a:xfrm>
            <a:off x="4800600" y="342900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7" name="Objective Card 3"/>
          <p:cNvSpPr/>
          <p:nvPr/>
        </p:nvSpPr>
        <p:spPr>
          <a:xfrm>
            <a:off x="548640" y="416052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Analyse scalability and availability</a:t>
            </a:r>
          </a:p>
        </p:txBody>
      </p:sp>
      <p:sp>
        <p:nvSpPr>
          <p:cNvPr id="108" name="Objective Number 3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9" name="Objective Card 4"/>
          <p:cNvSpPr/>
          <p:nvPr/>
        </p:nvSpPr>
        <p:spPr>
          <a:xfrm>
            <a:off x="4663440" y="416052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Study data replication methods</a:t>
            </a:r>
          </a:p>
        </p:txBody>
      </p:sp>
      <p:sp>
        <p:nvSpPr>
          <p:cNvPr id="110" name="Objective Number 4"/>
          <p:cNvSpPr/>
          <p:nvPr/>
        </p:nvSpPr>
        <p:spPr>
          <a:xfrm>
            <a:off x="4800600" y="429768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11" name="Objective Card 5"/>
          <p:cNvSpPr/>
          <p:nvPr/>
        </p:nvSpPr>
        <p:spPr>
          <a:xfrm>
            <a:off x="548640" y="502920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Compare Google Drive and Amazon S3</a:t>
            </a:r>
          </a:p>
        </p:txBody>
      </p:sp>
      <p:sp>
        <p:nvSpPr>
          <p:cNvPr id="112" name="Objective Number 5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13" name="Objective Card 6"/>
          <p:cNvSpPr/>
          <p:nvPr/>
        </p:nvSpPr>
        <p:spPr>
          <a:xfrm>
            <a:off x="4663440" y="5029200"/>
            <a:ext cx="393192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7724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Highlight practical applications</a:t>
            </a:r>
          </a:p>
        </p:txBody>
      </p:sp>
      <p:sp>
        <p:nvSpPr>
          <p:cNvPr id="114" name="Objective Number 6"/>
          <p:cNvSpPr/>
          <p:nvPr/>
        </p:nvSpPr>
        <p:spPr>
          <a:xfrm>
            <a:off x="4800600" y="5166360"/>
            <a:ext cx="457200" cy="457200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Section Subtitle"/>
          <p:cNvSpPr txBox="1"/>
          <p:nvPr/>
        </p:nvSpPr>
        <p:spPr>
          <a:xfrm>
            <a:off x="822960" y="1572768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5E9E"/>
                </a:solidFill>
                <a:latin typeface="Times New Roman"/>
                <a:cs typeface="Times New Roman"/>
              </a:rPr>
              <a:t>1. Cloud Storage Concept</a:t>
            </a:r>
          </a:p>
        </p:txBody>
      </p:sp>
      <p:sp>
        <p:nvSpPr>
          <p:cNvPr id="102" name="Concept Bullets"/>
          <p:cNvSpPr txBox="1"/>
          <p:nvPr/>
        </p:nvSpPr>
        <p:spPr>
          <a:xfrm>
            <a:off x="548640" y="214884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7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Data kept on remote servers, reached over the Internet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700" b="0" i="0" dirty="0">
                <a:solidFill>
                  <a:srgbClr val="002060"/>
                </a:solidFill>
                <a:latin typeface="Times New Roman"/>
                <a:cs typeface="Times New Roman"/>
              </a:rPr>
              <a:t>Provider owns and manages the hardware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700" b="0" i="0" dirty="0">
                <a:solidFill>
                  <a:srgbClr val="002060"/>
                </a:solidFill>
                <a:latin typeface="Times New Roman"/>
                <a:cs typeface="Times New Roman"/>
              </a:rPr>
              <a:t>Pay-as-you-go, on-demand capacity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7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Access via web, mobile apps and APIs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7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Deployment: public, private, hybrid</a:t>
            </a:r>
          </a:p>
        </p:txBody>
      </p:sp>
      <p:sp>
        <p:nvSpPr>
          <p:cNvPr id="103" name="Storage Type 1"/>
          <p:cNvSpPr/>
          <p:nvPr/>
        </p:nvSpPr>
        <p:spPr>
          <a:xfrm>
            <a:off x="4937760" y="214884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E8F0F9"/>
          </a:solidFill>
          <a:ln w="15875">
            <a:solidFill>
              <a:srgbClr val="1B5E9E"/>
            </a:solidFill>
          </a:ln>
        </p:spPr>
        <p:txBody>
          <a:bodyPr wrap="square" lIns="18288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1B5E9E"/>
                </a:solidFill>
                <a:latin typeface="Times New Roman"/>
                <a:cs typeface="Times New Roman"/>
              </a:rPr>
              <a:t>Object storage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Flat namespace: objects + metadata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002060"/>
                </a:solidFill>
                <a:latin typeface="Times New Roman"/>
                <a:cs typeface="Times New Roman"/>
              </a:rPr>
              <a:t>e.g., Amazon S3</a:t>
            </a:r>
          </a:p>
        </p:txBody>
      </p:sp>
      <p:sp>
        <p:nvSpPr>
          <p:cNvPr id="104" name="Storage Type 2"/>
          <p:cNvSpPr/>
          <p:nvPr/>
        </p:nvSpPr>
        <p:spPr>
          <a:xfrm>
            <a:off x="4937760" y="338328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EAF4E2"/>
          </a:solidFill>
          <a:ln w="15875">
            <a:solidFill>
              <a:srgbClr val="4C8C2B"/>
            </a:solidFill>
          </a:ln>
        </p:spPr>
        <p:txBody>
          <a:bodyPr wrap="square" lIns="18288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4C8C2B"/>
                </a:solidFill>
                <a:latin typeface="Times New Roman"/>
                <a:cs typeface="Times New Roman"/>
              </a:rPr>
              <a:t>File storage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Folders and files, shared access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002060"/>
                </a:solidFill>
                <a:latin typeface="Times New Roman"/>
                <a:cs typeface="Times New Roman"/>
              </a:rPr>
              <a:t>e.g., Google Drive, Amazon EFS</a:t>
            </a:r>
          </a:p>
        </p:txBody>
      </p:sp>
      <p:sp>
        <p:nvSpPr>
          <p:cNvPr id="105" name="Storage Type 3"/>
          <p:cNvSpPr/>
          <p:nvPr/>
        </p:nvSpPr>
        <p:spPr>
          <a:xfrm>
            <a:off x="4937760" y="46177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BEBDD"/>
          </a:solidFill>
          <a:ln w="15875">
            <a:solidFill>
              <a:srgbClr val="C55A11"/>
            </a:solidFill>
          </a:ln>
        </p:spPr>
        <p:txBody>
          <a:bodyPr wrap="square" lIns="182880" tIns="45720" rIns="13716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C55A11"/>
                </a:solidFill>
                <a:latin typeface="Times New Roman"/>
                <a:cs typeface="Times New Roman"/>
              </a:rPr>
              <a:t>Block storage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Fixed-size blocks, low latency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002060"/>
                </a:solidFill>
                <a:latin typeface="Times New Roman"/>
                <a:cs typeface="Times New Roman"/>
              </a:rPr>
              <a:t>e.g., Amazon EBS</a:t>
            </a:r>
          </a:p>
        </p:txBody>
      </p:sp>
      <p:sp>
        <p:nvSpPr>
          <p:cNvPr id="106" name="Device Box"/>
          <p:cNvSpPr/>
          <p:nvPr/>
        </p:nvSpPr>
        <p:spPr>
          <a:xfrm>
            <a:off x="548640" y="489204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1B5E9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Times New Roman"/>
                <a:cs typeface="Times New Roman"/>
              </a:rPr>
              <a:t>Your device</a:t>
            </a:r>
          </a:p>
        </p:txBody>
      </p:sp>
      <p:sp>
        <p:nvSpPr>
          <p:cNvPr id="107" name="Internet Cloud"/>
          <p:cNvSpPr/>
          <p:nvPr/>
        </p:nvSpPr>
        <p:spPr>
          <a:xfrm>
            <a:off x="2103120" y="4800600"/>
            <a:ext cx="1280160" cy="914400"/>
          </a:xfrm>
          <a:prstGeom prst="cloud">
            <a:avLst/>
          </a:prstGeom>
          <a:solidFill>
            <a:srgbClr val="E8F0F9"/>
          </a:solidFill>
          <a:ln w="19050">
            <a:solidFill>
              <a:srgbClr val="1B5E9E"/>
            </a:solidFill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2060"/>
                </a:solidFill>
                <a:latin typeface="Times New Roman"/>
                <a:cs typeface="Times New Roman"/>
              </a:rPr>
              <a:t>Internet</a:t>
            </a:r>
          </a:p>
        </p:txBody>
      </p:sp>
      <p:sp>
        <p:nvSpPr>
          <p:cNvPr id="108" name="Cloud Storage Can"/>
          <p:cNvSpPr/>
          <p:nvPr/>
        </p:nvSpPr>
        <p:spPr>
          <a:xfrm>
            <a:off x="3794760" y="4846320"/>
            <a:ext cx="868680" cy="868680"/>
          </a:xfrm>
          <a:prstGeom prst="can">
            <a:avLst/>
          </a:prstGeom>
          <a:solidFill>
            <a:srgbClr val="EAF4E2"/>
          </a:solidFill>
          <a:ln w="19050">
            <a:solidFill>
              <a:srgbClr val="4C8C2B"/>
            </a:solidFill>
          </a:ln>
        </p:spPr>
        <p:txBody>
          <a:bodyPr wrap="square" lIns="18288" tIns="91440" rIns="18288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Storage</a:t>
            </a:r>
          </a:p>
        </p:txBody>
      </p:sp>
      <p:cxnSp>
        <p:nvCxnSpPr>
          <p:cNvPr id="109" name="Device to Internet"/>
          <p:cNvCxnSpPr/>
          <p:nvPr/>
        </p:nvCxnSpPr>
        <p:spPr>
          <a:xfrm>
            <a:off x="1691640" y="5257800"/>
            <a:ext cx="411480" cy="0"/>
          </a:xfrm>
          <a:prstGeom prst="straightConnector1">
            <a:avLst/>
          </a:prstGeom>
          <a:ln w="25400">
            <a:solidFill>
              <a:srgbClr val="002060"/>
            </a:solidFill>
            <a:tailEnd type="triangle" w="med" len="med"/>
          </a:ln>
        </p:spPr>
      </p:cxnSp>
      <p:cxnSp>
        <p:nvCxnSpPr>
          <p:cNvPr id="110" name="Internet to Storage"/>
          <p:cNvCxnSpPr/>
          <p:nvPr/>
        </p:nvCxnSpPr>
        <p:spPr>
          <a:xfrm>
            <a:off x="3383280" y="5257800"/>
            <a:ext cx="411480" cy="0"/>
          </a:xfrm>
          <a:prstGeom prst="straightConnector1">
            <a:avLst/>
          </a:prstGeom>
          <a:ln w="25400">
            <a:solidFill>
              <a:srgbClr val="00206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Cloud Storage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Client Layer Band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2" name="Client Layer Label"/>
          <p:cNvSpPr/>
          <p:nvPr/>
        </p:nvSpPr>
        <p:spPr>
          <a:xfrm>
            <a:off x="457200" y="1645920"/>
            <a:ext cx="1371600" cy="82296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Client Layer</a:t>
            </a:r>
          </a:p>
        </p:txBody>
      </p:sp>
      <p:sp>
        <p:nvSpPr>
          <p:cNvPr id="103" name="Client Layer Box 1"/>
          <p:cNvSpPr/>
          <p:nvPr/>
        </p:nvSpPr>
        <p:spPr>
          <a:xfrm>
            <a:off x="1965960" y="178308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B5E9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Web Browser</a:t>
            </a:r>
          </a:p>
        </p:txBody>
      </p:sp>
      <p:sp>
        <p:nvSpPr>
          <p:cNvPr id="104" name="Client Layer Box 2"/>
          <p:cNvSpPr/>
          <p:nvPr/>
        </p:nvSpPr>
        <p:spPr>
          <a:xfrm>
            <a:off x="3657600" y="178308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B5E9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Mobile App</a:t>
            </a:r>
          </a:p>
        </p:txBody>
      </p:sp>
      <p:sp>
        <p:nvSpPr>
          <p:cNvPr id="105" name="Client Layer Box 3"/>
          <p:cNvSpPr/>
          <p:nvPr/>
        </p:nvSpPr>
        <p:spPr>
          <a:xfrm>
            <a:off x="5349240" y="178308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B5E9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Desktop Sync</a:t>
            </a:r>
          </a:p>
        </p:txBody>
      </p:sp>
      <p:sp>
        <p:nvSpPr>
          <p:cNvPr id="106" name="Client Layer Box 4"/>
          <p:cNvSpPr/>
          <p:nvPr/>
        </p:nvSpPr>
        <p:spPr>
          <a:xfrm>
            <a:off x="7040880" y="178308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B5E9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Apps / SDK</a:t>
            </a:r>
          </a:p>
        </p:txBody>
      </p:sp>
      <p:sp>
        <p:nvSpPr>
          <p:cNvPr id="107" name="Access Layer Band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E3F3F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08" name="Access Layer Label"/>
          <p:cNvSpPr/>
          <p:nvPr/>
        </p:nvSpPr>
        <p:spPr>
          <a:xfrm>
            <a:off x="457200" y="2743200"/>
            <a:ext cx="1371600" cy="822960"/>
          </a:xfrm>
          <a:prstGeom prst="rect">
            <a:avLst/>
          </a:prstGeom>
          <a:solidFill>
            <a:srgbClr val="1A7F8E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Access Layer</a:t>
            </a:r>
          </a:p>
        </p:txBody>
      </p:sp>
      <p:sp>
        <p:nvSpPr>
          <p:cNvPr id="109" name="Access Layer Box 1"/>
          <p:cNvSpPr/>
          <p:nvPr/>
        </p:nvSpPr>
        <p:spPr>
          <a:xfrm>
            <a:off x="1965960" y="2880360"/>
            <a:ext cx="207264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7F8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Load Balancer</a:t>
            </a:r>
          </a:p>
        </p:txBody>
      </p:sp>
      <p:sp>
        <p:nvSpPr>
          <p:cNvPr id="110" name="Access Layer Box 2"/>
          <p:cNvSpPr/>
          <p:nvPr/>
        </p:nvSpPr>
        <p:spPr>
          <a:xfrm>
            <a:off x="4221480" y="2880360"/>
            <a:ext cx="207264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7F8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REST API Gateway</a:t>
            </a:r>
          </a:p>
        </p:txBody>
      </p:sp>
      <p:sp>
        <p:nvSpPr>
          <p:cNvPr id="111" name="Access Layer Box 3"/>
          <p:cNvSpPr/>
          <p:nvPr/>
        </p:nvSpPr>
        <p:spPr>
          <a:xfrm>
            <a:off x="6477000" y="2880360"/>
            <a:ext cx="207264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7F8E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Authentication (IAM)</a:t>
            </a:r>
          </a:p>
        </p:txBody>
      </p:sp>
      <p:sp>
        <p:nvSpPr>
          <p:cNvPr id="112" name="Control Layer Band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BEBD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3" name="Control Layer Label"/>
          <p:cNvSpPr/>
          <p:nvPr/>
        </p:nvSpPr>
        <p:spPr>
          <a:xfrm>
            <a:off x="457200" y="3840480"/>
            <a:ext cx="1371600" cy="8229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Control Layer</a:t>
            </a:r>
          </a:p>
        </p:txBody>
      </p:sp>
      <p:sp>
        <p:nvSpPr>
          <p:cNvPr id="114" name="Control Layer Box 1"/>
          <p:cNvSpPr/>
          <p:nvPr/>
        </p:nvSpPr>
        <p:spPr>
          <a:xfrm>
            <a:off x="1965960" y="397764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Metadata Service</a:t>
            </a:r>
          </a:p>
        </p:txBody>
      </p:sp>
      <p:sp>
        <p:nvSpPr>
          <p:cNvPr id="115" name="Control Layer Box 2"/>
          <p:cNvSpPr/>
          <p:nvPr/>
        </p:nvSpPr>
        <p:spPr>
          <a:xfrm>
            <a:off x="3657600" y="397764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Data Placement</a:t>
            </a:r>
          </a:p>
        </p:txBody>
      </p:sp>
      <p:sp>
        <p:nvSpPr>
          <p:cNvPr id="116" name="Control Layer Box 3"/>
          <p:cNvSpPr/>
          <p:nvPr/>
        </p:nvSpPr>
        <p:spPr>
          <a:xfrm>
            <a:off x="5349240" y="397764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Replication Manager</a:t>
            </a:r>
          </a:p>
        </p:txBody>
      </p:sp>
      <p:sp>
        <p:nvSpPr>
          <p:cNvPr id="117" name="Control Layer Box 4"/>
          <p:cNvSpPr/>
          <p:nvPr/>
        </p:nvSpPr>
        <p:spPr>
          <a:xfrm>
            <a:off x="7040880" y="3977640"/>
            <a:ext cx="150876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Lifecycle Policies</a:t>
            </a:r>
          </a:p>
        </p:txBody>
      </p:sp>
      <p:sp>
        <p:nvSpPr>
          <p:cNvPr id="118" name="Storage Layer Band"/>
          <p:cNvSpPr/>
          <p:nvPr/>
        </p:nvSpPr>
        <p:spPr>
          <a:xfrm>
            <a:off x="457200" y="4937760"/>
            <a:ext cx="8229600" cy="1051560"/>
          </a:xfrm>
          <a:prstGeom prst="rect">
            <a:avLst/>
          </a:prstGeom>
          <a:solidFill>
            <a:srgbClr val="EAF4E2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en-US"/>
          </a:p>
        </p:txBody>
      </p:sp>
      <p:sp>
        <p:nvSpPr>
          <p:cNvPr id="119" name="Storage Layer Label"/>
          <p:cNvSpPr/>
          <p:nvPr/>
        </p:nvSpPr>
        <p:spPr>
          <a:xfrm>
            <a:off x="457200" y="4937760"/>
            <a:ext cx="1371600" cy="1051560"/>
          </a:xfrm>
          <a:prstGeom prst="rect">
            <a:avLst/>
          </a:prstGeom>
          <a:solidFill>
            <a:srgbClr val="4C8C2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Storage Layer</a:t>
            </a:r>
          </a:p>
        </p:txBody>
      </p:sp>
      <p:sp>
        <p:nvSpPr>
          <p:cNvPr id="120" name="Storage Layer Box 1"/>
          <p:cNvSpPr/>
          <p:nvPr/>
        </p:nvSpPr>
        <p:spPr>
          <a:xfrm>
            <a:off x="1965960" y="5074920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8C2B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Zone A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Storage nodes</a:t>
            </a:r>
          </a:p>
        </p:txBody>
      </p:sp>
      <p:sp>
        <p:nvSpPr>
          <p:cNvPr id="121" name="Storage Layer Box 2"/>
          <p:cNvSpPr/>
          <p:nvPr/>
        </p:nvSpPr>
        <p:spPr>
          <a:xfrm>
            <a:off x="4297680" y="5074920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8C2B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Zone B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Storage nodes</a:t>
            </a:r>
          </a:p>
        </p:txBody>
      </p:sp>
      <p:cxnSp>
        <p:nvCxnSpPr>
          <p:cNvPr id="122" name="Replication Link 1"/>
          <p:cNvCxnSpPr>
            <a:stCxn id="120" idx="3"/>
            <a:endCxn id="121" idx="1"/>
          </p:cNvCxnSpPr>
          <p:nvPr/>
        </p:nvCxnSpPr>
        <p:spPr>
          <a:xfrm>
            <a:off x="3886200" y="5463540"/>
            <a:ext cx="411480" cy="0"/>
          </a:xfrm>
          <a:prstGeom prst="straightConnector1">
            <a:avLst/>
          </a:prstGeom>
          <a:ln w="25400">
            <a:solidFill>
              <a:srgbClr val="4C8C2B"/>
            </a:solidFill>
            <a:headEnd type="triangle" w="med" len="med"/>
            <a:tailEnd type="triangle" w="med" len="med"/>
          </a:ln>
        </p:spPr>
      </p:cxnSp>
      <p:sp>
        <p:nvSpPr>
          <p:cNvPr id="123" name="Storage Layer Box 3"/>
          <p:cNvSpPr/>
          <p:nvPr/>
        </p:nvSpPr>
        <p:spPr>
          <a:xfrm>
            <a:off x="6629400" y="5074920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8C2B"/>
            </a:solidFill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Zone C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Storage nodes</a:t>
            </a:r>
          </a:p>
        </p:txBody>
      </p:sp>
      <p:cxnSp>
        <p:nvCxnSpPr>
          <p:cNvPr id="124" name="Replication Link 2"/>
          <p:cNvCxnSpPr>
            <a:stCxn id="121" idx="3"/>
            <a:endCxn id="123" idx="1"/>
          </p:cNvCxnSpPr>
          <p:nvPr/>
        </p:nvCxnSpPr>
        <p:spPr>
          <a:xfrm>
            <a:off x="6217920" y="5463540"/>
            <a:ext cx="411480" cy="0"/>
          </a:xfrm>
          <a:prstGeom prst="straightConnector1">
            <a:avLst/>
          </a:prstGeom>
          <a:ln w="25400">
            <a:solidFill>
              <a:srgbClr val="4C8C2B"/>
            </a:solidFill>
            <a:headEnd type="triangle" w="med" len="med"/>
            <a:tailEnd type="triangle" w="med" len="med"/>
          </a:ln>
        </p:spPr>
      </p:cxnSp>
      <p:cxnSp>
        <p:nvCxnSpPr>
          <p:cNvPr id="125" name="Layer Arrow 1"/>
          <p:cNvCxnSpPr/>
          <p:nvPr/>
        </p:nvCxnSpPr>
        <p:spPr>
          <a:xfrm>
            <a:off x="5321808" y="2468880"/>
            <a:ext cx="0" cy="27432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26" name="Layer Arrow 2"/>
          <p:cNvCxnSpPr/>
          <p:nvPr/>
        </p:nvCxnSpPr>
        <p:spPr>
          <a:xfrm>
            <a:off x="5321808" y="3566160"/>
            <a:ext cx="0" cy="27432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27" name="Layer Arrow 3"/>
          <p:cNvCxnSpPr/>
          <p:nvPr/>
        </p:nvCxnSpPr>
        <p:spPr>
          <a:xfrm>
            <a:off x="5321808" y="4663440"/>
            <a:ext cx="0" cy="27432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Methodology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Section Subtitle"/>
          <p:cNvSpPr txBox="1"/>
          <p:nvPr/>
        </p:nvSpPr>
        <p:spPr>
          <a:xfrm>
            <a:off x="822960" y="1572768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5E9E"/>
                </a:solidFill>
                <a:latin typeface="Times New Roman"/>
                <a:cs typeface="Times New Roman"/>
              </a:rPr>
              <a:t>Object write and read workflow</a:t>
            </a:r>
          </a:p>
        </p:txBody>
      </p:sp>
      <p:sp>
        <p:nvSpPr>
          <p:cNvPr id="102" name="Step 1 Box"/>
          <p:cNvSpPr/>
          <p:nvPr/>
        </p:nvSpPr>
        <p:spPr>
          <a:xfrm>
            <a:off x="457200" y="228600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5E9E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5E9E"/>
                </a:solidFill>
                <a:latin typeface="Times New Roman"/>
                <a:cs typeface="Times New Roman"/>
              </a:rPr>
              <a:t>Client Request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PUT / GET via REST API or SDK</a:t>
            </a:r>
          </a:p>
        </p:txBody>
      </p:sp>
      <p:sp>
        <p:nvSpPr>
          <p:cNvPr id="103" name="Step 2 Box"/>
          <p:cNvSpPr/>
          <p:nvPr/>
        </p:nvSpPr>
        <p:spPr>
          <a:xfrm>
            <a:off x="3337560" y="228600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7F8E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A7F8E"/>
                </a:solidFill>
                <a:latin typeface="Times New Roman"/>
                <a:cs typeface="Times New Roman"/>
              </a:rPr>
              <a:t>Authenticate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Verify identity, check permissions</a:t>
            </a:r>
          </a:p>
        </p:txBody>
      </p:sp>
      <p:sp>
        <p:nvSpPr>
          <p:cNvPr id="104" name="Step 3 Box"/>
          <p:cNvSpPr/>
          <p:nvPr/>
        </p:nvSpPr>
        <p:spPr>
          <a:xfrm>
            <a:off x="6217920" y="228600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C55A11"/>
                </a:solidFill>
                <a:latin typeface="Times New Roman"/>
                <a:cs typeface="Times New Roman"/>
              </a:rPr>
              <a:t>Route and Locate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Metadata lookup, pick storage nodes</a:t>
            </a:r>
          </a:p>
        </p:txBody>
      </p:sp>
      <p:sp>
        <p:nvSpPr>
          <p:cNvPr id="105" name="Step 4 Box"/>
          <p:cNvSpPr/>
          <p:nvPr/>
        </p:nvSpPr>
        <p:spPr>
          <a:xfrm>
            <a:off x="6217920" y="38404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C8C2B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4C8C2B"/>
                </a:solidFill>
                <a:latin typeface="Times New Roman"/>
                <a:cs typeface="Times New Roman"/>
              </a:rPr>
              <a:t>Write and Replicate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Split into chunks, copy across zones</a:t>
            </a:r>
          </a:p>
        </p:txBody>
      </p:sp>
      <p:sp>
        <p:nvSpPr>
          <p:cNvPr id="106" name="Step 5 Box"/>
          <p:cNvSpPr/>
          <p:nvPr/>
        </p:nvSpPr>
        <p:spPr>
          <a:xfrm>
            <a:off x="3337560" y="38404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C8C2B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4C8C2B"/>
                </a:solidFill>
                <a:latin typeface="Times New Roman"/>
                <a:cs typeface="Times New Roman"/>
              </a:rPr>
              <a:t>Verify and Acknowledge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Checksum validated, metadata updated</a:t>
            </a:r>
          </a:p>
        </p:txBody>
      </p:sp>
      <p:sp>
        <p:nvSpPr>
          <p:cNvPr id="107" name="Step 6 Box"/>
          <p:cNvSpPr/>
          <p:nvPr/>
        </p:nvSpPr>
        <p:spPr>
          <a:xfrm>
            <a:off x="457200" y="38404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5E9E"/>
            </a:solidFill>
          </a:ln>
        </p:spPr>
        <p:txBody>
          <a:bodyPr wrap="square" lIns="109728" tIns="137160" rIns="109728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5E9E"/>
                </a:solidFill>
                <a:latin typeface="Times New Roman"/>
                <a:cs typeface="Times New Roman"/>
              </a:rPr>
              <a:t>Read and Serve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Fetch from nearest healthy replica</a:t>
            </a:r>
          </a:p>
        </p:txBody>
      </p:sp>
      <p:sp>
        <p:nvSpPr>
          <p:cNvPr id="108" name="Step 1 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9" name="Step 2 Number"/>
          <p:cNvSpPr/>
          <p:nvPr/>
        </p:nvSpPr>
        <p:spPr>
          <a:xfrm>
            <a:off x="3429000" y="2103120"/>
            <a:ext cx="384048" cy="384048"/>
          </a:xfrm>
          <a:prstGeom prst="ellipse">
            <a:avLst/>
          </a:prstGeom>
          <a:solidFill>
            <a:srgbClr val="1A7F8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10" name="Step 3 Number"/>
          <p:cNvSpPr/>
          <p:nvPr/>
        </p:nvSpPr>
        <p:spPr>
          <a:xfrm>
            <a:off x="6309360" y="2103120"/>
            <a:ext cx="384048" cy="38404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11" name="Step 4 Number"/>
          <p:cNvSpPr/>
          <p:nvPr/>
        </p:nvSpPr>
        <p:spPr>
          <a:xfrm>
            <a:off x="6309360" y="3657600"/>
            <a:ext cx="384048" cy="384048"/>
          </a:xfrm>
          <a:prstGeom prst="ellipse">
            <a:avLst/>
          </a:prstGeom>
          <a:solidFill>
            <a:srgbClr val="4C8C2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12" name="Step 5 Number"/>
          <p:cNvSpPr/>
          <p:nvPr/>
        </p:nvSpPr>
        <p:spPr>
          <a:xfrm>
            <a:off x="3429000" y="3657600"/>
            <a:ext cx="384048" cy="384048"/>
          </a:xfrm>
          <a:prstGeom prst="ellipse">
            <a:avLst/>
          </a:prstGeom>
          <a:solidFill>
            <a:srgbClr val="4C8C2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13" name="Step 6 Number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B5E9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cxnSp>
        <p:nvCxnSpPr>
          <p:cNvPr id="114" name="Flow 1 to 2"/>
          <p:cNvCxnSpPr>
            <a:stCxn id="102" idx="3"/>
            <a:endCxn id="103" idx="1"/>
          </p:cNvCxnSpPr>
          <p:nvPr/>
        </p:nvCxnSpPr>
        <p:spPr>
          <a:xfrm>
            <a:off x="2926080" y="2880360"/>
            <a:ext cx="41148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15" name="Flow 2 to 3"/>
          <p:cNvCxnSpPr>
            <a:stCxn id="103" idx="3"/>
            <a:endCxn id="104" idx="1"/>
          </p:cNvCxnSpPr>
          <p:nvPr/>
        </p:nvCxnSpPr>
        <p:spPr>
          <a:xfrm>
            <a:off x="5806440" y="2880360"/>
            <a:ext cx="41148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16" name="Flow 3 to 4"/>
          <p:cNvCxnSpPr>
            <a:stCxn id="104" idx="2"/>
            <a:endCxn id="105" idx="0"/>
          </p:cNvCxnSpPr>
          <p:nvPr/>
        </p:nvCxnSpPr>
        <p:spPr>
          <a:xfrm>
            <a:off x="7452360" y="3474720"/>
            <a:ext cx="0" cy="36576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17" name="Flow 4 to 5"/>
          <p:cNvCxnSpPr>
            <a:stCxn id="105" idx="1"/>
            <a:endCxn id="106" idx="3"/>
          </p:cNvCxnSpPr>
          <p:nvPr/>
        </p:nvCxnSpPr>
        <p:spPr>
          <a:xfrm flipH="1">
            <a:off x="5806440" y="4434840"/>
            <a:ext cx="41148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18" name="Flow 5 to 6"/>
          <p:cNvCxnSpPr>
            <a:stCxn id="106" idx="1"/>
            <a:endCxn id="107" idx="3"/>
          </p:cNvCxnSpPr>
          <p:nvPr/>
        </p:nvCxnSpPr>
        <p:spPr>
          <a:xfrm flipH="1">
            <a:off x="2926080" y="4434840"/>
            <a:ext cx="41148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sp>
        <p:nvSpPr>
          <p:cNvPr id="119" name="Techniques Heading"/>
          <p:cNvSpPr txBox="1"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00000"/>
                </a:solidFill>
                <a:latin typeface="Times New Roman"/>
                <a:cs typeface="Times New Roman"/>
              </a:rPr>
              <a:t>Key techniques</a:t>
            </a:r>
          </a:p>
        </p:txBody>
      </p:sp>
      <p:sp>
        <p:nvSpPr>
          <p:cNvPr id="120" name="Technique 1"/>
          <p:cNvSpPr/>
          <p:nvPr/>
        </p:nvSpPr>
        <p:spPr>
          <a:xfrm>
            <a:off x="457200" y="5623560"/>
            <a:ext cx="1572768" cy="457200"/>
          </a:xfrm>
          <a:prstGeom prst="roundRect">
            <a:avLst>
              <a:gd name="adj" fmla="val 30000"/>
            </a:avLst>
          </a:prstGeom>
          <a:solidFill>
            <a:srgbClr val="E8F0F9"/>
          </a:solidFill>
          <a:ln w="12700">
            <a:solidFill>
              <a:srgbClr val="1B5E9E"/>
            </a:solidFill>
          </a:ln>
        </p:spPr>
        <p:txBody>
          <a:bodyPr wrap="square" lIns="27432" tIns="18288" rIns="27432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Chunking</a:t>
            </a:r>
          </a:p>
        </p:txBody>
      </p:sp>
      <p:sp>
        <p:nvSpPr>
          <p:cNvPr id="121" name="Technique 2"/>
          <p:cNvSpPr/>
          <p:nvPr/>
        </p:nvSpPr>
        <p:spPr>
          <a:xfrm>
            <a:off x="2121408" y="5623560"/>
            <a:ext cx="1572768" cy="457200"/>
          </a:xfrm>
          <a:prstGeom prst="roundRect">
            <a:avLst>
              <a:gd name="adj" fmla="val 30000"/>
            </a:avLst>
          </a:prstGeom>
          <a:solidFill>
            <a:srgbClr val="E8F0F9"/>
          </a:solidFill>
          <a:ln w="12700">
            <a:solidFill>
              <a:srgbClr val="1B5E9E"/>
            </a:solidFill>
          </a:ln>
        </p:spPr>
        <p:txBody>
          <a:bodyPr wrap="square" lIns="27432" tIns="18288" rIns="27432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Consistent hashing</a:t>
            </a:r>
          </a:p>
        </p:txBody>
      </p:sp>
      <p:sp>
        <p:nvSpPr>
          <p:cNvPr id="122" name="Technique 3"/>
          <p:cNvSpPr/>
          <p:nvPr/>
        </p:nvSpPr>
        <p:spPr>
          <a:xfrm>
            <a:off x="3785616" y="5623560"/>
            <a:ext cx="1572768" cy="457200"/>
          </a:xfrm>
          <a:prstGeom prst="roundRect">
            <a:avLst>
              <a:gd name="adj" fmla="val 30000"/>
            </a:avLst>
          </a:prstGeom>
          <a:solidFill>
            <a:srgbClr val="E8F0F9"/>
          </a:solidFill>
          <a:ln w="12700">
            <a:solidFill>
              <a:srgbClr val="1B5E9E"/>
            </a:solidFill>
          </a:ln>
        </p:spPr>
        <p:txBody>
          <a:bodyPr wrap="square" lIns="27432" tIns="18288" rIns="27432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Replication</a:t>
            </a:r>
          </a:p>
        </p:txBody>
      </p:sp>
      <p:sp>
        <p:nvSpPr>
          <p:cNvPr id="123" name="Technique 4"/>
          <p:cNvSpPr/>
          <p:nvPr/>
        </p:nvSpPr>
        <p:spPr>
          <a:xfrm>
            <a:off x="5449824" y="5623560"/>
            <a:ext cx="1572768" cy="457200"/>
          </a:xfrm>
          <a:prstGeom prst="roundRect">
            <a:avLst>
              <a:gd name="adj" fmla="val 30000"/>
            </a:avLst>
          </a:prstGeom>
          <a:solidFill>
            <a:srgbClr val="E8F0F9"/>
          </a:solidFill>
          <a:ln w="12700">
            <a:solidFill>
              <a:srgbClr val="1B5E9E"/>
            </a:solidFill>
          </a:ln>
        </p:spPr>
        <p:txBody>
          <a:bodyPr wrap="square" lIns="27432" tIns="18288" rIns="27432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Checksums</a:t>
            </a:r>
          </a:p>
        </p:txBody>
      </p:sp>
      <p:sp>
        <p:nvSpPr>
          <p:cNvPr id="124" name="Technique 5"/>
          <p:cNvSpPr/>
          <p:nvPr/>
        </p:nvSpPr>
        <p:spPr>
          <a:xfrm>
            <a:off x="7114032" y="5623560"/>
            <a:ext cx="1572768" cy="457200"/>
          </a:xfrm>
          <a:prstGeom prst="roundRect">
            <a:avLst>
              <a:gd name="adj" fmla="val 30000"/>
            </a:avLst>
          </a:prstGeom>
          <a:solidFill>
            <a:srgbClr val="E8F0F9"/>
          </a:solidFill>
          <a:ln w="12700">
            <a:solidFill>
              <a:srgbClr val="1B5E9E"/>
            </a:solidFill>
          </a:ln>
        </p:spPr>
        <p:txBody>
          <a:bodyPr wrap="square" lIns="27432" tIns="18288" rIns="27432" bIns="18288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Lifecycle tiering</a:t>
            </a:r>
          </a:p>
        </p:txBody>
      </p:sp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C007-5E4E-CA02-94A4-65E20D56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9BF2-3583-BCB8-E168-FCD43BF2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Real-World Use Case in Cloud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AD04-2290-7D34-A621-A15516D4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B50FCD3-154E-CDBE-CA92-7C01C433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Amazon S3 Header"/>
          <p:cNvSpPr/>
          <p:nvPr/>
        </p:nvSpPr>
        <p:spPr>
          <a:xfrm>
            <a:off x="457200" y="1691640"/>
            <a:ext cx="4023360" cy="73152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Amazon S3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/>
                <a:cs typeface="Times New Roman"/>
              </a:rPr>
              <a:t>Object storage by AWS</a:t>
            </a:r>
          </a:p>
        </p:txBody>
      </p:sp>
      <p:sp>
        <p:nvSpPr>
          <p:cNvPr id="102" name="Amazon S3 Points"/>
          <p:cNvSpPr/>
          <p:nvPr/>
        </p:nvSpPr>
        <p:spPr>
          <a:xfrm>
            <a:off x="457200" y="2423160"/>
            <a:ext cx="4023360" cy="306324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txBody>
          <a:bodyPr wrap="square" lIns="182880" tIns="182880" rIns="13716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Launched in 2006, object storage service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Buckets hold objects, accessed via REST API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Storage classes: Standard, IA, Glacier tiers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Versioning, lifecycle rules, replication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Used for backups, data lakes, static websites, media</a:t>
            </a:r>
          </a:p>
        </p:txBody>
      </p:sp>
      <p:sp>
        <p:nvSpPr>
          <p:cNvPr id="103" name="Google Drive Header"/>
          <p:cNvSpPr/>
          <p:nvPr/>
        </p:nvSpPr>
        <p:spPr>
          <a:xfrm>
            <a:off x="4663440" y="1691640"/>
            <a:ext cx="4023360" cy="731520"/>
          </a:xfrm>
          <a:prstGeom prst="rect">
            <a:avLst/>
          </a:prstGeom>
          <a:solidFill>
            <a:srgbClr val="4C8C2B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Google Drive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/>
                <a:cs typeface="Times New Roman"/>
              </a:rPr>
              <a:t>File storage and sync by Google</a:t>
            </a:r>
          </a:p>
        </p:txBody>
      </p:sp>
      <p:sp>
        <p:nvSpPr>
          <p:cNvPr id="104" name="Google Drive Points"/>
          <p:cNvSpPr/>
          <p:nvPr/>
        </p:nvSpPr>
        <p:spPr>
          <a:xfrm>
            <a:off x="4663440" y="2423160"/>
            <a:ext cx="4023360" cy="3063240"/>
          </a:xfrm>
          <a:prstGeom prst="rect">
            <a:avLst/>
          </a:prstGeom>
          <a:solidFill>
            <a:srgbClr val="EAF4E2"/>
          </a:solidFill>
          <a:ln>
            <a:noFill/>
          </a:ln>
        </p:spPr>
        <p:txBody>
          <a:bodyPr wrap="square" lIns="182880" tIns="182880" rIns="13716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Launched in 2012, file storage and sync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15 GB free, shared across Google account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Real-time sharing and co-editing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Version history, offline access, multi-device sync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Runs on Google’s replicated data centers</a:t>
            </a:r>
          </a:p>
        </p:txBody>
      </p:sp>
      <p:sp>
        <p:nvSpPr>
          <p:cNvPr id="105" name="Shared Pattern"/>
          <p:cNvSpPr/>
          <p:nvPr/>
        </p:nvSpPr>
        <p:spPr>
          <a:xfrm>
            <a:off x="457200" y="5623560"/>
            <a:ext cx="8229600" cy="457200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Shared pattern: API access + replicated storage + elastic capacity</a:t>
            </a:r>
          </a:p>
        </p:txBody>
      </p:sp>
    </p:spTree>
    <p:extLst>
      <p:ext uri="{BB962C8B-B14F-4D97-AF65-F5344CB8AC3E}">
        <p14:creationId xmlns:p14="http://schemas.microsoft.com/office/powerpoint/2010/main" val="165674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 and Key Takeaways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Problem Header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</a:p>
        </p:txBody>
      </p:sp>
      <p:sp>
        <p:nvSpPr>
          <p:cNvPr id="102" name="Problem Points"/>
          <p:cNvSpPr/>
          <p:nvPr/>
        </p:nvSpPr>
        <p:spPr>
          <a:xfrm>
            <a:off x="457200" y="2148840"/>
            <a:ext cx="2606040" cy="192024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txBody>
          <a:bodyPr wrap="square" lIns="137160" tIns="109728" rIns="9144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Data growth outpaces local storage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Access needed anywhere, on any device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Hardware failure risks data loss</a:t>
            </a:r>
          </a:p>
        </p:txBody>
      </p:sp>
      <p:sp>
        <p:nvSpPr>
          <p:cNvPr id="103" name="Solution Header"/>
          <p:cNvSpPr/>
          <p:nvPr/>
        </p:nvSpPr>
        <p:spPr>
          <a:xfrm>
            <a:off x="3246120" y="1691640"/>
            <a:ext cx="2606040" cy="45720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</a:p>
        </p:txBody>
      </p:sp>
      <p:sp>
        <p:nvSpPr>
          <p:cNvPr id="104" name="Solution Points"/>
          <p:cNvSpPr/>
          <p:nvPr/>
        </p:nvSpPr>
        <p:spPr>
          <a:xfrm>
            <a:off x="3246120" y="2148840"/>
            <a:ext cx="2606040" cy="192024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txBody>
          <a:bodyPr wrap="square" lIns="137160" tIns="109728" rIns="9144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Layered, distributed architecture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Elastic scaling across nodes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Replication across zones and regions</a:t>
            </a:r>
          </a:p>
        </p:txBody>
      </p:sp>
      <p:sp>
        <p:nvSpPr>
          <p:cNvPr id="105" name="Impact Header"/>
          <p:cNvSpPr/>
          <p:nvPr/>
        </p:nvSpPr>
        <p:spPr>
          <a:xfrm>
            <a:off x="6035040" y="1691640"/>
            <a:ext cx="2606040" cy="457200"/>
          </a:xfrm>
          <a:prstGeom prst="rect">
            <a:avLst/>
          </a:prstGeom>
          <a:solidFill>
            <a:srgbClr val="4C8C2B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</a:p>
        </p:txBody>
      </p:sp>
      <p:sp>
        <p:nvSpPr>
          <p:cNvPr id="106" name="Impact Points"/>
          <p:cNvSpPr/>
          <p:nvPr/>
        </p:nvSpPr>
        <p:spPr>
          <a:xfrm>
            <a:off x="6035040" y="2148840"/>
            <a:ext cx="2606040" cy="1920240"/>
          </a:xfrm>
          <a:prstGeom prst="rect">
            <a:avLst/>
          </a:prstGeom>
          <a:solidFill>
            <a:srgbClr val="EAF4E2"/>
          </a:solidFill>
          <a:ln>
            <a:noFill/>
          </a:ln>
        </p:spPr>
        <p:txBody>
          <a:bodyPr wrap="square" lIns="137160" tIns="109728" rIns="9144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Very high durability and availability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Pay only for what is used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400" b="0" i="0" dirty="0">
                <a:solidFill>
                  <a:srgbClr val="002060"/>
                </a:solidFill>
                <a:latin typeface="Times New Roman"/>
                <a:cs typeface="Times New Roman"/>
              </a:rPr>
              <a:t>Foundation for S3, Drive and more</a:t>
            </a:r>
          </a:p>
        </p:txBody>
      </p:sp>
      <p:sp>
        <p:nvSpPr>
          <p:cNvPr id="107" name="Takeaways Heading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108" name="Takeaways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Cloud storage: remote, scalable, always-available data service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Architecture separates access, metadata and storage layers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Replication is the core of durability and availability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Amazon S3 (object) and Google Drive (file) prove it at global scale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48640" y="1691640"/>
            <a:ext cx="8046720" cy="4297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Amazon Web Services, “Data protection in Amazon S3,” Amazon S3 User Guide. docs.aws.amazon.com/AmazonS3/latest/userguide/DataDurability.html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Amazon Web Services, “Understanding and managing Amazon S3 storage classes.” docs.aws.amazon.com/AmazonS3/latest/userguide/storage-class-intro.html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Google, “Google Drive Help.” support.google.com/drive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Google Cloud, “Cloud Storage documentation.” cloud.google.com/storage/docs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P. Mell and T. Grance, “The NIST Definition of Cloud Computing,” NIST SP 800-145, 2011.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S. Ghemawat, H. Gobioff and S.-T. Leung, “The Google File System,” ACM SOSP, 2003.</a:t>
            </a:r>
          </a:p>
          <a:p>
            <a:pPr marL="365760" indent="-283464">
              <a:spcAft>
                <a:spcPts val="900"/>
              </a:spcAft>
              <a:buFont typeface="Wingdings 2"/>
              <a:buChar char=""/>
              <a:defRPr/>
            </a:pPr>
            <a:r>
              <a:rPr lang="en-US" sz="1500" b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G. DeCandia et al., “Dynamo: Amazon’s Highly Available Key-value Store,” ACM SOSP, 2007.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Section Subtitle"/>
          <p:cNvSpPr txBox="1"/>
          <p:nvPr/>
        </p:nvSpPr>
        <p:spPr>
          <a:xfrm>
            <a:off x="822960" y="1572768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5E9E"/>
                </a:solidFill>
                <a:latin typeface="Times New Roman"/>
                <a:cs typeface="Times New Roman"/>
              </a:rPr>
              <a:t>3. Data Replication</a:t>
            </a:r>
          </a:p>
        </p:txBody>
      </p:sp>
      <p:sp>
        <p:nvSpPr>
          <p:cNvPr id="102" name="Replication Bullets"/>
          <p:cNvSpPr txBox="1"/>
          <p:nvPr/>
        </p:nvSpPr>
        <p:spPr>
          <a:xfrm>
            <a:off x="548640" y="2103120"/>
            <a:ext cx="4023360" cy="3840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Synchronous: </a:t>
            </a: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all copies written before acknowledgement, strong consistency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Asynchronous: </a:t>
            </a: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acknowledge first, copy later, lower latency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Within region: </a:t>
            </a: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copies across availability zones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Cross-region: </a:t>
            </a: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disaster recovery and nearer reads</a:t>
            </a:r>
          </a:p>
          <a:p>
            <a:pPr algn="l" marL="228600" indent="-228600">
              <a:spcBef>
                <a:spcPts val="0"/>
              </a:spcBef>
              <a:spcAft>
                <a:spcPts val="10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Erasure coding: </a:t>
            </a: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data + parity fragments, less storage overhead</a:t>
            </a:r>
          </a:p>
        </p:txBody>
      </p:sp>
      <p:sp>
        <p:nvSpPr>
          <p:cNvPr id="103" name="Client Box"/>
          <p:cNvSpPr/>
          <p:nvPr/>
        </p:nvSpPr>
        <p:spPr>
          <a:xfrm>
            <a:off x="5897880" y="2103120"/>
            <a:ext cx="1463040" cy="502920"/>
          </a:xfrm>
          <a:prstGeom prst="roundRect">
            <a:avLst>
              <a:gd name="adj" fmla="val 20000"/>
            </a:avLst>
          </a:prstGeom>
          <a:solidFill>
            <a:srgbClr val="1B5E9E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Client</a:t>
            </a:r>
          </a:p>
        </p:txBody>
      </p:sp>
      <p:sp>
        <p:nvSpPr>
          <p:cNvPr id="104" name="Primary Copy"/>
          <p:cNvSpPr/>
          <p:nvPr/>
        </p:nvSpPr>
        <p:spPr>
          <a:xfrm>
            <a:off x="5349240" y="315468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4C8C2B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Zone A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/>
                <a:cs typeface="Times New Roman"/>
              </a:rPr>
              <a:t>Primary copy</a:t>
            </a:r>
          </a:p>
        </p:txBody>
      </p:sp>
      <p:sp>
        <p:nvSpPr>
          <p:cNvPr id="105" name="Replica Zone B"/>
          <p:cNvSpPr/>
          <p:nvPr/>
        </p:nvSpPr>
        <p:spPr>
          <a:xfrm>
            <a:off x="4709160" y="47091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EAF4E2"/>
          </a:solidFill>
          <a:ln w="19050">
            <a:solidFill>
              <a:srgbClr val="4C8C2B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Zone B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Replica</a:t>
            </a:r>
          </a:p>
        </p:txBody>
      </p:sp>
      <p:sp>
        <p:nvSpPr>
          <p:cNvPr id="106" name="Replica Zone C"/>
          <p:cNvSpPr/>
          <p:nvPr/>
        </p:nvSpPr>
        <p:spPr>
          <a:xfrm>
            <a:off x="6812280" y="47091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EAF4E2"/>
          </a:solidFill>
          <a:ln w="19050">
            <a:solidFill>
              <a:srgbClr val="4C8C2B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Zone C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Replica</a:t>
            </a:r>
          </a:p>
        </p:txBody>
      </p:sp>
      <p:cxnSp>
        <p:nvCxnSpPr>
          <p:cNvPr id="107" name="Write Arrow"/>
          <p:cNvCxnSpPr>
            <a:stCxn id="103" idx="2"/>
            <a:endCxn id="104" idx="0"/>
          </p:cNvCxnSpPr>
          <p:nvPr/>
        </p:nvCxnSpPr>
        <p:spPr>
          <a:xfrm>
            <a:off x="6629400" y="2606040"/>
            <a:ext cx="0" cy="54864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med" len="med"/>
          </a:ln>
        </p:spPr>
      </p:cxnSp>
      <p:cxnSp>
        <p:nvCxnSpPr>
          <p:cNvPr id="108" name="Replicate to B"/>
          <p:cNvCxnSpPr>
            <a:stCxn id="104" idx="2"/>
            <a:endCxn id="105" idx="0"/>
          </p:cNvCxnSpPr>
          <p:nvPr/>
        </p:nvCxnSpPr>
        <p:spPr>
          <a:xfrm flipH="1">
            <a:off x="5623560" y="3886200"/>
            <a:ext cx="1005840" cy="822960"/>
          </a:xfrm>
          <a:prstGeom prst="straightConnector1">
            <a:avLst/>
          </a:prstGeom>
          <a:ln w="28575">
            <a:solidFill>
              <a:srgbClr val="4C8C2B"/>
            </a:solidFill>
            <a:tailEnd type="triangle" w="med" len="med"/>
          </a:ln>
        </p:spPr>
      </p:cxnSp>
      <p:cxnSp>
        <p:nvCxnSpPr>
          <p:cNvPr id="109" name="Replicate to C"/>
          <p:cNvCxnSpPr>
            <a:stCxn id="104" idx="2"/>
            <a:endCxn id="106" idx="0"/>
          </p:cNvCxnSpPr>
          <p:nvPr/>
        </p:nvCxnSpPr>
        <p:spPr>
          <a:xfrm>
            <a:off x="6629400" y="3886200"/>
            <a:ext cx="1097280" cy="822960"/>
          </a:xfrm>
          <a:prstGeom prst="straightConnector1">
            <a:avLst/>
          </a:prstGeom>
          <a:ln w="28575">
            <a:solidFill>
              <a:srgbClr val="4C8C2B"/>
            </a:solidFill>
            <a:tailEnd type="triangle" w="med" len="med"/>
          </a:ln>
        </p:spPr>
      </p:cxnSp>
      <p:sp>
        <p:nvSpPr>
          <p:cNvPr id="110" name="Write Label"/>
          <p:cNvSpPr txBox="1"/>
          <p:nvPr/>
        </p:nvSpPr>
        <p:spPr>
          <a:xfrm>
            <a:off x="6766560" y="26060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002060"/>
                </a:solidFill>
                <a:latin typeface="Times New Roman"/>
                <a:cs typeface="Times New Roman"/>
              </a:rPr>
              <a:t>write</a:t>
            </a:r>
          </a:p>
        </p:txBody>
      </p:sp>
      <p:sp>
        <p:nvSpPr>
          <p:cNvPr id="111" name="Replicate Label"/>
          <p:cNvSpPr txBox="1"/>
          <p:nvPr/>
        </p:nvSpPr>
        <p:spPr>
          <a:xfrm>
            <a:off x="4754880" y="4114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4C8C2B"/>
                </a:solidFill>
                <a:latin typeface="Times New Roman"/>
                <a:cs typeface="Times New Roman"/>
              </a:rPr>
              <a:t>replicate</a:t>
            </a:r>
          </a:p>
        </p:txBody>
      </p:sp>
      <p:sp>
        <p:nvSpPr>
          <p:cNvPr id="112" name="Replication Caption"/>
          <p:cNvSpPr txBox="1"/>
          <p:nvPr/>
        </p:nvSpPr>
        <p:spPr>
          <a:xfrm>
            <a:off x="4709160" y="5577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002060"/>
                </a:solidFill>
                <a:latin typeface="Times New Roman"/>
                <a:cs typeface="Times New Roman"/>
              </a:rPr>
              <a:t>Copies kept in separate failure zones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8992"/>
            <a:ext cx="7498080" cy="47548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Section Subtitle"/>
          <p:cNvSpPr txBox="1"/>
          <p:nvPr/>
        </p:nvSpPr>
        <p:spPr>
          <a:xfrm>
            <a:off x="822960" y="1572768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5E9E"/>
                </a:solidFill>
                <a:latin typeface="Times New Roman"/>
                <a:cs typeface="Times New Roman"/>
              </a:rPr>
              <a:t>2. Scalability and Availability</a:t>
            </a:r>
          </a:p>
        </p:txBody>
      </p:sp>
      <p:sp>
        <p:nvSpPr>
          <p:cNvPr id="102" name="Scalability Header"/>
          <p:cNvSpPr/>
          <p:nvPr/>
        </p:nvSpPr>
        <p:spPr>
          <a:xfrm>
            <a:off x="548640" y="2057400"/>
            <a:ext cx="3931920" cy="45720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Scalability</a:t>
            </a:r>
          </a:p>
        </p:txBody>
      </p:sp>
      <p:sp>
        <p:nvSpPr>
          <p:cNvPr id="103" name="Scalability Points"/>
          <p:cNvSpPr/>
          <p:nvPr/>
        </p:nvSpPr>
        <p:spPr>
          <a:xfrm>
            <a:off x="548640" y="2514600"/>
            <a:ext cx="3931920" cy="233172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txBody>
          <a:bodyPr wrap="square" lIns="182880" tIns="137160" rIns="13716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Horizontal scaling: add more nodes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Elastic: capacity grows and shrinks on demand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Data sharded across many nodes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1B5E9E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Load balancing spreads requests</a:t>
            </a:r>
          </a:p>
        </p:txBody>
      </p:sp>
      <p:sp>
        <p:nvSpPr>
          <p:cNvPr id="104" name="Availability Header"/>
          <p:cNvSpPr/>
          <p:nvPr/>
        </p:nvSpPr>
        <p:spPr>
          <a:xfrm>
            <a:off x="4663440" y="2057400"/>
            <a:ext cx="3931920" cy="457200"/>
          </a:xfrm>
          <a:prstGeom prst="rect">
            <a:avLst/>
          </a:prstGeom>
          <a:solidFill>
            <a:srgbClr val="4C8C2B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Availability</a:t>
            </a:r>
          </a:p>
        </p:txBody>
      </p:sp>
      <p:sp>
        <p:nvSpPr>
          <p:cNvPr id="105" name="Availability Points"/>
          <p:cNvSpPr/>
          <p:nvPr/>
        </p:nvSpPr>
        <p:spPr>
          <a:xfrm>
            <a:off x="4663440" y="2514600"/>
            <a:ext cx="3931920" cy="2331720"/>
          </a:xfrm>
          <a:prstGeom prst="rect">
            <a:avLst/>
          </a:prstGeom>
          <a:solidFill>
            <a:srgbClr val="EAF4E2"/>
          </a:solidFill>
          <a:ln>
            <a:noFill/>
          </a:ln>
        </p:spPr>
        <p:txBody>
          <a:bodyPr wrap="square" lIns="182880" tIns="137160" rIns="137160" bIns="45720" anchor="t" rtlCol="0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Redundant parts, no single point of failure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Multi-zone and multi-region deployment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Automatic failover and self-healing</a:t>
            </a:r>
          </a:p>
          <a:p>
            <a:pPr algn="l" marL="228600" indent="-228600">
              <a:spcBef>
                <a:spcPts val="0"/>
              </a:spcBef>
              <a:spcAft>
                <a:spcPts val="900"/>
              </a:spcAft>
              <a:buClr>
                <a:srgbClr val="4C8C2B"/>
              </a:buClr>
              <a:buSzPct val="80000"/>
              <a:buFont typeface="Arial"/>
              <a:buChar char="•"/>
            </a:pPr>
            <a:r>
              <a:rPr lang="en-US" sz="16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SLA-backed uptime targets</a:t>
            </a:r>
          </a:p>
        </p:txBody>
      </p:sp>
      <p:sp>
        <p:nvSpPr>
          <p:cNvPr id="106" name="Stat 1"/>
          <p:cNvSpPr/>
          <p:nvPr/>
        </p:nvSpPr>
        <p:spPr>
          <a:xfrm>
            <a:off x="548640" y="507492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99.999999999%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S3 Standard designed durability</a:t>
            </a:r>
          </a:p>
        </p:txBody>
      </p:sp>
      <p:sp>
        <p:nvSpPr>
          <p:cNvPr id="107" name="Stat 2"/>
          <p:cNvSpPr/>
          <p:nvPr/>
        </p:nvSpPr>
        <p:spPr>
          <a:xfrm>
            <a:off x="3291840" y="507492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99.99%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S3 Standard designed availability</a:t>
            </a:r>
          </a:p>
        </p:txBody>
      </p:sp>
      <p:sp>
        <p:nvSpPr>
          <p:cNvPr id="108" name="Stat 3"/>
          <p:cNvSpPr/>
          <p:nvPr/>
        </p:nvSpPr>
        <p:spPr>
          <a:xfrm>
            <a:off x="6035040" y="507492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3+ AZs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2060"/>
                </a:solidFill>
                <a:latin typeface="Times New Roman"/>
                <a:cs typeface="Times New Roman"/>
              </a:rPr>
              <a:t>S3 Standard spreads data across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5869</TotalTime>
  <Words>339</Words>
  <Application>Microsoft Office PowerPoint</Application>
  <PresentationFormat>On-screen Show (4:3)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Core Technical Explanation</vt:lpstr>
      <vt:lpstr>Existing System </vt:lpstr>
      <vt:lpstr>Proposed  System </vt:lpstr>
      <vt:lpstr>Overall System Architecturel Design </vt:lpstr>
      <vt:lpstr>Proposed Methodology and Algorithm  </vt:lpstr>
      <vt:lpstr>Real-world use case in cloud computing.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Arul Raj</cp:lastModifiedBy>
  <cp:revision>426</cp:revision>
  <dcterms:created xsi:type="dcterms:W3CDTF">2000-07-06T15:05:59Z</dcterms:created>
  <dcterms:modified xsi:type="dcterms:W3CDTF">2026-10-02T14:08:01Z</dcterms:modified>
</cp:coreProperties>
</file>